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0B8E-A176-49F2-A3C1-FEDA0200170B}" type="datetime2">
              <a:rPr lang="en-US" smtClean="0"/>
              <a:t>Saturday, August 2, 2025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8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Saturday, August 2,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0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292D-4609-4E55-92E3-C12C6A1234E8}" type="datetime2">
              <a:rPr lang="en-US" smtClean="0"/>
              <a:t>Saturday, August 2,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6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E0E29-2C79-4A2A-B61C-A21B8362A50A}" type="datetime2">
              <a:rPr lang="en-US" smtClean="0"/>
              <a:t>Saturday, August 2, 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4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A0177-5432-41AC-9593-8EC96BFF4F82}" type="datetime2">
              <a:rPr lang="en-US" smtClean="0"/>
              <a:t>Saturday, August 2,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4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9A7B-B2F1-41A3-B969-4E25F618B967}" type="datetime2">
              <a:rPr lang="en-US" smtClean="0"/>
              <a:t>Saturday, August 2, 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2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8B79-F222-4FD1-8713-07459E1B5004}" type="datetime2">
              <a:rPr lang="en-US" smtClean="0"/>
              <a:t>Saturday, August 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8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30FD-0818-4065-B5FE-410552D9B1BC}" type="datetime2">
              <a:rPr lang="en-US" smtClean="0"/>
              <a:t>Saturday, August 2,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9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D289-0EBF-40C7-B6E8-60285281F180}" type="datetime2">
              <a:rPr lang="en-US" smtClean="0"/>
              <a:t>Saturday, August 2, 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3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A49D-4A7C-4944-9802-8EE0B5A6CEDD}" type="datetime2">
              <a:rPr lang="en-US" smtClean="0"/>
              <a:t>Saturday, August 2,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5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DDD-3B11-4150-8B39-3662C10D8BF9}" type="datetime2">
              <a:rPr lang="en-US" smtClean="0"/>
              <a:t>Saturday, August 2,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6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4CDC665-7415-4DAF-AE09-B9BBC1907393}" type="datetime2">
              <a:rPr lang="en-US" smtClean="0"/>
              <a:t>Saturday, August 2,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7BE69E03-4804-4553-A1EC-F089884EF50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67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955B3A-C08D-43E6-ABEF-A4F616FB6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19694A-8B4E-4127-9C08-9B8F39B6F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36E6B-D7EF-409B-B48D-1628C06EE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03CB042-EDDE-CD1F-2004-8213E8FE9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899" y="3854831"/>
            <a:ext cx="5278995" cy="2156581"/>
          </a:xfrm>
        </p:spPr>
        <p:txBody>
          <a:bodyPr anchor="t">
            <a:normAutofit/>
          </a:bodyPr>
          <a:lstStyle/>
          <a:p>
            <a:pPr algn="l"/>
            <a:r>
              <a:rPr lang="it-IT" sz="4800"/>
              <a:t>PikaPikaGenerator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9C348F9-4FE0-8AA6-F146-AED14EFE0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182" y="3854830"/>
            <a:ext cx="4700133" cy="2156579"/>
          </a:xfrm>
        </p:spPr>
        <p:txBody>
          <a:bodyPr anchor="t">
            <a:normAutofit/>
          </a:bodyPr>
          <a:lstStyle/>
          <a:p>
            <a:pPr algn="l"/>
            <a:r>
              <a:rPr lang="it-IT" sz="2200" dirty="0"/>
              <a:t>Generatore di Sprite Pokémon a partire da Descrizioni Testuali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D2053-BB10-4615-A38D-86EEC0D8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422144" cy="3599020"/>
          </a:xfrm>
          <a:prstGeom prst="rect">
            <a:avLst/>
          </a:prstGeom>
          <a:solidFill>
            <a:srgbClr val="FFBC52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CD660-10F0-5133-66F0-4C2177AE29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58" r="-1" b="19718"/>
          <a:stretch>
            <a:fillRect/>
          </a:stretch>
        </p:blipFill>
        <p:spPr>
          <a:xfrm>
            <a:off x="422145" y="10"/>
            <a:ext cx="11082529" cy="359901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2CC60F-C99A-48C5-856F-3C79856E9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FFBC5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2ED1C-4B10-41E7-9BF6-7447B99B9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FFBC5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ottotitolo 2">
            <a:extLst>
              <a:ext uri="{FF2B5EF4-FFF2-40B4-BE49-F238E27FC236}">
                <a16:creationId xmlns:a16="http://schemas.microsoft.com/office/drawing/2014/main" id="{EC2E6963-F466-2AD1-1CD5-6C927EEEA02B}"/>
              </a:ext>
            </a:extLst>
          </p:cNvPr>
          <p:cNvSpPr txBox="1">
            <a:spLocks/>
          </p:cNvSpPr>
          <p:nvPr/>
        </p:nvSpPr>
        <p:spPr>
          <a:xfrm>
            <a:off x="421375" y="4469454"/>
            <a:ext cx="4700133" cy="21565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2200"/>
              <a:t>Corso: Deep Learning – Politecnico di Bari</a:t>
            </a:r>
          </a:p>
          <a:p>
            <a:pPr algn="l"/>
            <a:r>
              <a:rPr lang="it-IT" sz="2200"/>
              <a:t>Docente: Vito Walter Anelli</a:t>
            </a:r>
          </a:p>
          <a:p>
            <a:pPr algn="l"/>
            <a:r>
              <a:rPr lang="it-IT" sz="2200"/>
              <a:t>Studente: Pasquale Alessandro Denora</a:t>
            </a:r>
            <a:endParaRPr lang="it-IT" sz="2200" dirty="0"/>
          </a:p>
        </p:txBody>
      </p:sp>
    </p:spTree>
    <p:extLst>
      <p:ext uri="{BB962C8B-B14F-4D97-AF65-F5344CB8AC3E}">
        <p14:creationId xmlns:p14="http://schemas.microsoft.com/office/powerpoint/2010/main" val="2789078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848DF-7DE6-6B7F-2EEF-CFFFCE87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F49642-7A7D-9C02-9C2B-0F8B6D4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Obiettivo:</a:t>
            </a:r>
          </a:p>
          <a:p>
            <a:pPr lvl="1"/>
            <a:r>
              <a:rPr lang="it-IT" dirty="0"/>
              <a:t> Creare Sprite Pokémon da testo tramite un sistema text-to-image</a:t>
            </a:r>
          </a:p>
          <a:p>
            <a:r>
              <a:rPr lang="it-IT" dirty="0"/>
              <a:t>Utilizziamo:</a:t>
            </a:r>
          </a:p>
          <a:p>
            <a:pPr lvl="1"/>
            <a:r>
              <a:rPr lang="it-IT" dirty="0"/>
              <a:t>Architettura Encoder-Decoder con </a:t>
            </a:r>
            <a:r>
              <a:rPr lang="it-IT" dirty="0" err="1"/>
              <a:t>Attention</a:t>
            </a:r>
            <a:endParaRPr lang="it-IT" dirty="0"/>
          </a:p>
          <a:p>
            <a:pPr lvl="1"/>
            <a:r>
              <a:rPr lang="it-IT" dirty="0"/>
              <a:t>Utilizzo di BERT-mini e Generatore CNN</a:t>
            </a:r>
          </a:p>
          <a:p>
            <a:pPr lvl="1"/>
            <a:r>
              <a:rPr lang="it-IT" dirty="0"/>
              <a:t>Output visivamente interpretabili</a:t>
            </a:r>
          </a:p>
          <a:p>
            <a:pPr lvl="1"/>
            <a:r>
              <a:rPr lang="it-IT" dirty="0"/>
              <a:t>Implementazione completa: </a:t>
            </a:r>
            <a:r>
              <a:rPr lang="it-IT" dirty="0" err="1"/>
              <a:t>Preprocessing</a:t>
            </a:r>
            <a:r>
              <a:rPr lang="it-IT" dirty="0"/>
              <a:t> ---&gt; Training ---&gt; Demo</a:t>
            </a:r>
          </a:p>
          <a:p>
            <a:pPr marL="457200" lvl="1" indent="0">
              <a:buNone/>
            </a:pPr>
            <a:r>
              <a:rPr lang="it-IT" dirty="0"/>
              <a:t>Risultato:</a:t>
            </a:r>
          </a:p>
          <a:p>
            <a:pPr marL="457200" lvl="1" indent="0">
              <a:buNone/>
            </a:pPr>
            <a:r>
              <a:rPr lang="it-IT" dirty="0"/>
              <a:t>Il modello genera immagini a partire da input testuali, dimostrando apprendimento delle basi della mappatura testo-immagine. </a:t>
            </a:r>
          </a:p>
          <a:p>
            <a:pPr marL="457200" lvl="1" indent="0">
              <a:buNone/>
            </a:pPr>
            <a:r>
              <a:rPr lang="it-IT" dirty="0"/>
              <a:t>Tuttavia gli </a:t>
            </a:r>
            <a:r>
              <a:rPr lang="it-IT" dirty="0" err="1"/>
              <a:t>sprites</a:t>
            </a:r>
            <a:r>
              <a:rPr lang="it-IT" dirty="0"/>
              <a:t> generati differiscono notevolmente dalle immagini reali.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850ECF-ED3F-1CED-7A7A-7F2B02DD5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Saturday, August 2,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7754EF-EAB9-EF03-31DF-5C38C8E8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4C5B61-530E-0988-DED2-7AFF7C7C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51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5C1D12-BCD4-A205-9D99-7ECB88B79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Dataset e </a:t>
            </a:r>
            <a:r>
              <a:rPr lang="it-IT" dirty="0" err="1"/>
              <a:t>Preprocessing</a:t>
            </a:r>
            <a:r>
              <a:rPr lang="it-IT" dirty="0"/>
              <a:t>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842283-4367-D93E-832D-E97A90AA9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Dataset: The Complete </a:t>
            </a:r>
            <a:r>
              <a:rPr lang="it-IT" dirty="0" err="1"/>
              <a:t>Pokèdex</a:t>
            </a:r>
            <a:r>
              <a:rPr lang="it-IT" dirty="0"/>
              <a:t> Dataset</a:t>
            </a:r>
          </a:p>
          <a:p>
            <a:pPr lvl="1"/>
            <a:r>
              <a:rPr lang="it-IT" dirty="0"/>
              <a:t>898 </a:t>
            </a:r>
            <a:r>
              <a:rPr lang="it-IT" dirty="0" err="1"/>
              <a:t>Pokèmon</a:t>
            </a:r>
            <a:r>
              <a:rPr lang="it-IT" dirty="0"/>
              <a:t>: descrizioni + </a:t>
            </a:r>
            <a:r>
              <a:rPr lang="it-IT" dirty="0" err="1"/>
              <a:t>sprite</a:t>
            </a:r>
            <a:endParaRPr lang="it-IT" dirty="0"/>
          </a:p>
          <a:p>
            <a:pPr lvl="1"/>
            <a:r>
              <a:rPr lang="it-IT" dirty="0"/>
              <a:t>Descrizioni medie: 123 caratteri</a:t>
            </a:r>
          </a:p>
          <a:p>
            <a:pPr lvl="1"/>
            <a:r>
              <a:rPr lang="it-IT" dirty="0" err="1"/>
              <a:t>Sprites</a:t>
            </a:r>
            <a:r>
              <a:rPr lang="it-IT" dirty="0"/>
              <a:t> consistenti per l’apprendimento</a:t>
            </a:r>
          </a:p>
          <a:p>
            <a:r>
              <a:rPr lang="it-IT" dirty="0" err="1"/>
              <a:t>Preprocessing</a:t>
            </a:r>
            <a:r>
              <a:rPr lang="it-IT" dirty="0"/>
              <a:t> Testo:</a:t>
            </a:r>
            <a:br>
              <a:rPr lang="it-IT" dirty="0"/>
            </a:br>
            <a:r>
              <a:rPr lang="it-IT" dirty="0"/>
              <a:t>	</a:t>
            </a:r>
            <a:r>
              <a:rPr lang="it-IT" dirty="0" err="1"/>
              <a:t>Tokenizer</a:t>
            </a:r>
            <a:r>
              <a:rPr lang="it-IT" dirty="0"/>
              <a:t> BERT-mini, sequenze a 128 token</a:t>
            </a:r>
          </a:p>
          <a:p>
            <a:r>
              <a:rPr lang="it-IT" dirty="0" err="1"/>
              <a:t>Preprocessing</a:t>
            </a:r>
            <a:r>
              <a:rPr lang="it-IT" dirty="0"/>
              <a:t> Immagini:</a:t>
            </a:r>
            <a:br>
              <a:rPr lang="it-IT" dirty="0"/>
            </a:br>
            <a:r>
              <a:rPr lang="it-IT" dirty="0"/>
              <a:t>	RGBA </a:t>
            </a:r>
            <a:r>
              <a:rPr lang="it-IT" dirty="0">
                <a:sym typeface="Wingdings" panose="05000000000000000000" pitchFamily="2" charset="2"/>
              </a:rPr>
              <a:t> RGB con </a:t>
            </a:r>
            <a:r>
              <a:rPr lang="it-IT" dirty="0" err="1">
                <a:sym typeface="Wingdings" panose="05000000000000000000" pitchFamily="2" charset="2"/>
              </a:rPr>
              <a:t>backround</a:t>
            </a:r>
            <a:r>
              <a:rPr lang="it-IT" dirty="0">
                <a:sym typeface="Wingdings" panose="05000000000000000000" pitchFamily="2" charset="2"/>
              </a:rPr>
              <a:t> bianco</a:t>
            </a:r>
          </a:p>
          <a:p>
            <a:pPr marL="914400" lvl="2" indent="0">
              <a:buNone/>
            </a:pPr>
            <a:r>
              <a:rPr lang="it-IT" sz="2400" dirty="0">
                <a:sym typeface="Wingdings" panose="05000000000000000000" pitchFamily="2" charset="2"/>
              </a:rPr>
              <a:t>Normalizzazione e </a:t>
            </a:r>
            <a:r>
              <a:rPr lang="it-IT" sz="2400" dirty="0" err="1">
                <a:sym typeface="Wingdings" panose="05000000000000000000" pitchFamily="2" charset="2"/>
              </a:rPr>
              <a:t>Augmentation</a:t>
            </a:r>
            <a:endParaRPr lang="it-IT" dirty="0">
              <a:sym typeface="Wingdings" panose="05000000000000000000" pitchFamily="2" charset="2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CC0955-193A-AEF2-CF91-71849F17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Saturday, August 2,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2DC926-BC47-4765-2BB4-DE63708B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23BA10D-2AA0-5DC8-9AD1-596280C1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9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002C79-CB10-97F1-17E0-D13C94C4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 del Modello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722458-AD0D-9F60-C394-23C455607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Modello Encoder-Decoder con 3 componenti:</a:t>
            </a:r>
          </a:p>
          <a:p>
            <a:r>
              <a:rPr lang="it-IT" dirty="0"/>
              <a:t>1. Text Encoder (BERT- mini + proiezione): estrazione rappresentazioni semantiche</a:t>
            </a:r>
          </a:p>
          <a:p>
            <a:r>
              <a:rPr lang="it-IT" dirty="0"/>
              <a:t>2. Multi-head </a:t>
            </a:r>
            <a:r>
              <a:rPr lang="it-IT" dirty="0" err="1"/>
              <a:t>Attention</a:t>
            </a:r>
            <a:r>
              <a:rPr lang="it-IT" dirty="0"/>
              <a:t>: Allineamento info testuali-visuali</a:t>
            </a:r>
          </a:p>
          <a:p>
            <a:r>
              <a:rPr lang="it-IT" dirty="0"/>
              <a:t>3. Generatore CNN con </a:t>
            </a:r>
            <a:r>
              <a:rPr lang="it-IT" dirty="0" err="1"/>
              <a:t>Residual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: traduzione in pixel</a:t>
            </a:r>
          </a:p>
          <a:p>
            <a:endParaRPr lang="it-IT" dirty="0"/>
          </a:p>
          <a:p>
            <a:r>
              <a:rPr lang="it-IT" dirty="0"/>
              <a:t>Integrazione controllata con rumore </a:t>
            </a:r>
          </a:p>
          <a:p>
            <a:r>
              <a:rPr lang="it-IT" dirty="0" err="1"/>
              <a:t>Adaptive</a:t>
            </a:r>
            <a:r>
              <a:rPr lang="it-IT" dirty="0"/>
              <a:t> pooling per output 215x215</a:t>
            </a:r>
          </a:p>
          <a:p>
            <a:r>
              <a:rPr lang="it-IT" dirty="0"/>
              <a:t>Visualizzazione </a:t>
            </a:r>
            <a:r>
              <a:rPr lang="it-IT" dirty="0" err="1"/>
              <a:t>attention</a:t>
            </a:r>
            <a:r>
              <a:rPr lang="it-IT" dirty="0"/>
              <a:t> integrata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EFB4E9-66EF-79D4-60DE-A6D97C76F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Saturday, August 2,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9D3CDA-7409-FDD0-B4BA-59938153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FCF9E9-1264-0744-5DF0-31D10908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3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2A4C98-12EF-3BE6-D050-8D5B77943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Training Del Modello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EC0AC8-028D-935B-B5F2-DB88B6661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/>
              <a:t>Configurazione Ottimizzatori</a:t>
            </a:r>
          </a:p>
          <a:p>
            <a:pPr lvl="1"/>
            <a:r>
              <a:rPr lang="it-IT" dirty="0"/>
              <a:t>Adam </a:t>
            </a:r>
            <a:r>
              <a:rPr lang="it-IT" dirty="0" err="1"/>
              <a:t>Optimizer</a:t>
            </a:r>
            <a:r>
              <a:rPr lang="it-IT" dirty="0"/>
              <a:t> con beta personalizzati</a:t>
            </a:r>
          </a:p>
          <a:p>
            <a:pPr lvl="1"/>
            <a:r>
              <a:rPr lang="it-IT" dirty="0"/>
              <a:t>Learning rate 0.0001</a:t>
            </a:r>
          </a:p>
          <a:p>
            <a:pPr lvl="1"/>
            <a:r>
              <a:rPr lang="it-IT" dirty="0" err="1"/>
              <a:t>ReduceLROnPlateauScheduler</a:t>
            </a:r>
            <a:endParaRPr lang="it-IT" dirty="0"/>
          </a:p>
          <a:p>
            <a:pPr lvl="1"/>
            <a:r>
              <a:rPr lang="it-IT" dirty="0" err="1"/>
              <a:t>Automatic</a:t>
            </a:r>
            <a:r>
              <a:rPr lang="it-IT" dirty="0"/>
              <a:t> Mixed Precision</a:t>
            </a:r>
          </a:p>
          <a:p>
            <a:r>
              <a:rPr lang="it-IT" dirty="0"/>
              <a:t>Features Avanzate:</a:t>
            </a:r>
          </a:p>
          <a:p>
            <a:pPr lvl="1"/>
            <a:r>
              <a:rPr lang="it-IT" dirty="0" err="1"/>
              <a:t>Gradient</a:t>
            </a:r>
            <a:r>
              <a:rPr lang="it-IT" dirty="0"/>
              <a:t> clipping per stabilità</a:t>
            </a:r>
          </a:p>
          <a:p>
            <a:pPr lvl="1"/>
            <a:r>
              <a:rPr lang="it-IT" dirty="0" err="1"/>
              <a:t>Early</a:t>
            </a:r>
            <a:r>
              <a:rPr lang="it-IT" dirty="0"/>
              <a:t> </a:t>
            </a:r>
            <a:r>
              <a:rPr lang="it-IT" dirty="0" err="1"/>
              <a:t>stopping</a:t>
            </a:r>
            <a:r>
              <a:rPr lang="it-IT" dirty="0"/>
              <a:t> anti </a:t>
            </a:r>
            <a:r>
              <a:rPr lang="it-IT" dirty="0" err="1"/>
              <a:t>overfitting</a:t>
            </a:r>
            <a:endParaRPr lang="it-IT" dirty="0"/>
          </a:p>
          <a:p>
            <a:pPr lvl="1"/>
            <a:r>
              <a:rPr lang="it-IT" dirty="0"/>
              <a:t>Support training </a:t>
            </a:r>
            <a:r>
              <a:rPr lang="it-IT" dirty="0" err="1"/>
              <a:t>adversariale</a:t>
            </a:r>
            <a:r>
              <a:rPr lang="it-IT" dirty="0"/>
              <a:t> opzionale</a:t>
            </a:r>
          </a:p>
          <a:p>
            <a:pPr lvl="1"/>
            <a:r>
              <a:rPr lang="it-IT" dirty="0"/>
              <a:t>Monitoring continuo performance</a:t>
            </a:r>
          </a:p>
          <a:p>
            <a:r>
              <a:rPr lang="it-IT" dirty="0"/>
              <a:t>Loss composita:</a:t>
            </a:r>
            <a:br>
              <a:rPr lang="it-IT" dirty="0"/>
            </a:br>
            <a:r>
              <a:rPr lang="it-IT" dirty="0"/>
              <a:t>L1 Loss : 15.0</a:t>
            </a:r>
          </a:p>
          <a:p>
            <a:pPr marL="457200" lvl="1" indent="0">
              <a:buNone/>
            </a:pPr>
            <a:r>
              <a:rPr lang="it-IT" dirty="0"/>
              <a:t>LPIPS : 2.5</a:t>
            </a:r>
          </a:p>
          <a:p>
            <a:pPr marL="457200" lvl="1" indent="0">
              <a:buNone/>
            </a:pPr>
            <a:r>
              <a:rPr lang="it-IT" dirty="0" err="1"/>
              <a:t>Adversarial</a:t>
            </a:r>
            <a:r>
              <a:rPr lang="it-IT" dirty="0"/>
              <a:t> Loss: 0.5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77668F-501F-504C-A08D-5B7010D35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Sunday, August 3,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67253B-BA9A-6F8A-F5A5-F2E178EC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A6C002-7BD2-D4C8-C2A9-E92FFF07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20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615028-EFF5-8286-6858-7D0BD54C6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Metriche di Valutazione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A14E3D-F050-5E0C-11F4-576E67E1E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/>
              <a:t>Quantitative</a:t>
            </a:r>
          </a:p>
          <a:p>
            <a:pPr lvl="1"/>
            <a:r>
              <a:rPr lang="it-IT" dirty="0"/>
              <a:t>SSIM: Similarità strutturale</a:t>
            </a:r>
          </a:p>
          <a:p>
            <a:pPr lvl="1"/>
            <a:r>
              <a:rPr lang="it-IT" dirty="0"/>
              <a:t>PSNR: Qualità ricostruzione</a:t>
            </a:r>
          </a:p>
          <a:p>
            <a:pPr lvl="1"/>
            <a:r>
              <a:rPr lang="it-IT" dirty="0"/>
              <a:t>L1/L2: Errori pixel-wise</a:t>
            </a:r>
          </a:p>
          <a:p>
            <a:pPr lvl="1"/>
            <a:r>
              <a:rPr lang="it-IT" dirty="0"/>
              <a:t>LPIPS: Qualità percettuale</a:t>
            </a:r>
          </a:p>
          <a:p>
            <a:pPr lvl="1"/>
            <a:r>
              <a:rPr lang="it-IT" dirty="0"/>
              <a:t>FID: </a:t>
            </a:r>
            <a:r>
              <a:rPr lang="it-IT" dirty="0" err="1"/>
              <a:t>Frèchet</a:t>
            </a:r>
            <a:r>
              <a:rPr lang="it-IT" dirty="0"/>
              <a:t> </a:t>
            </a:r>
            <a:r>
              <a:rPr lang="it-IT" dirty="0" err="1"/>
              <a:t>Inception</a:t>
            </a:r>
            <a:r>
              <a:rPr lang="it-IT" dirty="0"/>
              <a:t> </a:t>
            </a:r>
            <a:r>
              <a:rPr lang="it-IT" dirty="0" err="1"/>
              <a:t>Distance</a:t>
            </a:r>
            <a:endParaRPr lang="it-IT" dirty="0"/>
          </a:p>
          <a:p>
            <a:pPr lvl="1"/>
            <a:r>
              <a:rPr lang="it-IT" dirty="0"/>
              <a:t>IS: </a:t>
            </a:r>
            <a:r>
              <a:rPr lang="it-IT" dirty="0" err="1"/>
              <a:t>Inception</a:t>
            </a:r>
            <a:r>
              <a:rPr lang="it-IT" dirty="0"/>
              <a:t> Score</a:t>
            </a:r>
          </a:p>
          <a:p>
            <a:endParaRPr lang="it-IT" b="1" dirty="0"/>
          </a:p>
          <a:p>
            <a:pPr marL="0" indent="0">
              <a:buNone/>
            </a:pPr>
            <a:endParaRPr lang="it-IT" b="1" dirty="0"/>
          </a:p>
          <a:p>
            <a:r>
              <a:rPr lang="it-IT" b="1" dirty="0"/>
              <a:t>PSNR 11.14 dB:</a:t>
            </a:r>
            <a:r>
              <a:rPr lang="it-IT" dirty="0"/>
              <a:t> Valore Basso (standard &gt;20 dB per qualità accettabile)</a:t>
            </a:r>
          </a:p>
          <a:p>
            <a:r>
              <a:rPr lang="it-IT" b="1" dirty="0"/>
              <a:t>FID 25.35:</a:t>
            </a:r>
            <a:r>
              <a:rPr lang="it-IT" dirty="0"/>
              <a:t> Distribuzione statistica distante dal target reale</a:t>
            </a:r>
          </a:p>
          <a:p>
            <a:r>
              <a:rPr lang="it-IT" b="1" dirty="0"/>
              <a:t>IS 1.0:</a:t>
            </a:r>
            <a:r>
              <a:rPr lang="it-IT" dirty="0"/>
              <a:t> Qualità e diversità minime su scala 1-10</a:t>
            </a:r>
          </a:p>
          <a:p>
            <a:r>
              <a:rPr lang="it-IT" b="1" dirty="0"/>
              <a:t>SSIM 0.69:</a:t>
            </a:r>
            <a:r>
              <a:rPr lang="it-IT" dirty="0"/>
              <a:t> Fuorviante - cattura solo similarità strutturale grossolana, non fedeltà semantica</a:t>
            </a:r>
          </a:p>
          <a:p>
            <a:pPr marL="457200" lvl="1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16782B-3396-BA7F-C3BB-A8D34A20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Sunday, August 3,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99CA83-9B02-A934-8192-4B74C3D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73D649-9DE8-7953-9629-0820B83E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6</a:t>
            </a:fld>
            <a:endParaRPr lang="en-US"/>
          </a:p>
        </p:txBody>
      </p:sp>
      <p:pic>
        <p:nvPicPr>
          <p:cNvPr id="8" name="Immagine 7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C7284F8-E195-5C5D-EC29-8FEA105A4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7643"/>
            <a:ext cx="5407152" cy="322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47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260062-7B36-B95B-FCF0-30EC2702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Metriche di Valutazione 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B80A65-73BA-C1BB-F3CE-0C5CC39A4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Visive</a:t>
            </a:r>
          </a:p>
          <a:p>
            <a:pPr lvl="1"/>
            <a:r>
              <a:rPr lang="it-IT" dirty="0"/>
              <a:t>Forme astratte</a:t>
            </a:r>
          </a:p>
          <a:p>
            <a:pPr lvl="1"/>
            <a:r>
              <a:rPr lang="it-IT" dirty="0"/>
              <a:t>Colori attenuati</a:t>
            </a:r>
          </a:p>
          <a:p>
            <a:pPr lvl="1"/>
            <a:r>
              <a:rPr lang="it-IT" dirty="0"/>
              <a:t>Figure Interpretabili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A9ED3E-9BC9-5038-C317-72D3AAD4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Sunday, August 3,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9B130F-EDDF-0A5E-8C03-943FA430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C340FF-DFA3-FB7D-6DD2-AAEEED8B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7</a:t>
            </a:fld>
            <a:endParaRPr lang="en-US"/>
          </a:p>
        </p:txBody>
      </p:sp>
      <p:pic>
        <p:nvPicPr>
          <p:cNvPr id="8" name="Immagine 7" descr="Immagine che contiene schizz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3302EFA5-4EC6-A8C3-9B2D-A37E994B3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685" y="1639713"/>
            <a:ext cx="6880332" cy="267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01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948A84-7C3D-C617-1A10-A95B0DB4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 Interattiva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432F07-63A2-D59B-2795-6EA2A603D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Realizzata con </a:t>
            </a:r>
            <a:r>
              <a:rPr lang="it-IT" dirty="0" err="1"/>
              <a:t>Gradio</a:t>
            </a:r>
            <a:endParaRPr lang="it-IT" dirty="0"/>
          </a:p>
          <a:p>
            <a:pPr lvl="1"/>
            <a:r>
              <a:rPr lang="it-IT" dirty="0"/>
              <a:t>Input Testuale -&gt; Output Sprite</a:t>
            </a:r>
          </a:p>
          <a:p>
            <a:r>
              <a:rPr lang="it-IT" dirty="0"/>
              <a:t>3 </a:t>
            </a:r>
            <a:r>
              <a:rPr lang="it-IT" dirty="0" err="1"/>
              <a:t>Modalita</a:t>
            </a:r>
            <a:r>
              <a:rPr lang="it-IT" dirty="0"/>
              <a:t>: </a:t>
            </a:r>
          </a:p>
          <a:p>
            <a:r>
              <a:rPr lang="it-IT" dirty="0"/>
              <a:t>Singola Generazione</a:t>
            </a:r>
          </a:p>
          <a:p>
            <a:pPr lvl="1"/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783CB4-EBC5-4D6F-35FB-18076B121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Sunday, August 3,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E2628F-D905-ACC0-B978-59B6F74A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B2E478-DDB4-B4D2-5958-0C30BA08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8</a:t>
            </a:fld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2FD63C7-50D4-FBCE-3F4D-39BB4DFFE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440" y="2669531"/>
            <a:ext cx="8029903" cy="402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11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88D4D-F0A4-A7E0-C496-F397B3E21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33DDC2-069A-8DDD-7BA5-3945619F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 Interattiva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C2393E-7731-94AE-85A5-55F8926BE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Realizzata con </a:t>
            </a:r>
            <a:r>
              <a:rPr lang="it-IT" dirty="0" err="1"/>
              <a:t>Gradio</a:t>
            </a:r>
            <a:endParaRPr lang="it-IT" dirty="0"/>
          </a:p>
          <a:p>
            <a:pPr lvl="1"/>
            <a:r>
              <a:rPr lang="it-IT" dirty="0"/>
              <a:t>Input Testuale -&gt; Output Sprite</a:t>
            </a:r>
          </a:p>
          <a:p>
            <a:r>
              <a:rPr lang="it-IT" dirty="0"/>
              <a:t>3 </a:t>
            </a:r>
            <a:r>
              <a:rPr lang="it-IT" dirty="0" err="1"/>
              <a:t>Modalita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Batch Generation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7CE900-15BE-6CB1-33AA-D5D3C6E3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Sunday, August 3,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5039E0-AC68-DCE0-7BE7-29EFC8C0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B87DE1-418B-EB06-089B-FF1F2E6B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9</a:t>
            </a:fld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7820255-2DA3-4ABF-14D6-CF0541DF2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011" y="1545021"/>
            <a:ext cx="7096041" cy="405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12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DA862-C48E-5A76-775B-3C8A5242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ED6427-D35A-D422-4B6C-90BACC86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 Interattiva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86A954-8DB8-5207-2CF6-4E2B7E423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Realizzata con </a:t>
            </a:r>
            <a:r>
              <a:rPr lang="it-IT" dirty="0" err="1"/>
              <a:t>Gradio</a:t>
            </a:r>
            <a:endParaRPr lang="it-IT" dirty="0"/>
          </a:p>
          <a:p>
            <a:pPr lvl="1"/>
            <a:r>
              <a:rPr lang="it-IT" dirty="0"/>
              <a:t>Input Testuale -&gt; Output Sprite</a:t>
            </a:r>
          </a:p>
          <a:p>
            <a:r>
              <a:rPr lang="it-IT" dirty="0"/>
              <a:t>3 </a:t>
            </a:r>
            <a:r>
              <a:rPr lang="it-IT" dirty="0" err="1"/>
              <a:t>Modalita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Visualizzazione Metriche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3AF50C-6CEE-6E47-0A6A-1B5D2C324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Sunday, August 3,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7B6C76-5CE6-8E20-99FE-0449D2F3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354118-FBC4-9A68-D2EA-A0AF70C5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10</a:t>
            </a:fld>
            <a:endParaRPr lang="en-US"/>
          </a:p>
        </p:txBody>
      </p:sp>
      <p:pic>
        <p:nvPicPr>
          <p:cNvPr id="8" name="Immagine 7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D6FC527C-5D3E-DE72-F7A3-563D0EB4A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749" y="1876600"/>
            <a:ext cx="6743023" cy="357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6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42E2F-D0FB-EB30-7920-7B6D2203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A672B8-33E8-8857-72AC-CE6579848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Training completato per 300 epoche</a:t>
            </a:r>
          </a:p>
          <a:p>
            <a:r>
              <a:rPr lang="it-IT" dirty="0"/>
              <a:t>Loss </a:t>
            </a:r>
            <a:r>
              <a:rPr lang="it-IT" dirty="0" err="1"/>
              <a:t>Validation</a:t>
            </a:r>
            <a:r>
              <a:rPr lang="it-IT" dirty="0"/>
              <a:t> Finale: 0.265</a:t>
            </a:r>
          </a:p>
          <a:p>
            <a:r>
              <a:rPr lang="it-IT" dirty="0"/>
              <a:t>Architettura stabile: 38.8M parametri</a:t>
            </a:r>
          </a:p>
          <a:p>
            <a:r>
              <a:rPr lang="it-IT" dirty="0"/>
              <a:t>Convergenza senza </a:t>
            </a:r>
            <a:r>
              <a:rPr lang="it-IT" dirty="0" err="1"/>
              <a:t>overfitting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07DC74-5DEB-9B91-4467-8A300B10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Sunday, August 3,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49C6E2-F9D2-7B23-2702-DAEFE1EF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96427F-3010-B96B-3D51-F60FD119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20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171A45-AFA1-CF52-C0CD-05077E38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1C9C7C-B27E-CA64-D244-610B3C8BE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PSNR e FID non ottimali</a:t>
            </a:r>
          </a:p>
          <a:p>
            <a:r>
              <a:rPr lang="it-IT" dirty="0" err="1"/>
              <a:t>Attention</a:t>
            </a:r>
            <a:r>
              <a:rPr lang="it-IT" dirty="0"/>
              <a:t> poco precisa su parole-immagine</a:t>
            </a:r>
          </a:p>
          <a:p>
            <a:r>
              <a:rPr lang="it-IT" dirty="0"/>
              <a:t>Sprite visivamente deboli rispetto agli originali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FBC802-E331-1CF7-B45D-6E79D7AFD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Sunday, August 3, 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798340-018C-F68F-DD29-9C34FCD9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DA44C7-ACA9-6732-4D0E-89E4FD5C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8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477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Arial</vt:lpstr>
      <vt:lpstr>Dante</vt:lpstr>
      <vt:lpstr>Dante (Headings)2</vt:lpstr>
      <vt:lpstr>Helvetica Neue Medium</vt:lpstr>
      <vt:lpstr>Wingdings</vt:lpstr>
      <vt:lpstr>Wingdings 2</vt:lpstr>
      <vt:lpstr>OffsetVTI</vt:lpstr>
      <vt:lpstr>PikaPikaGenerator</vt:lpstr>
      <vt:lpstr>Introduzione </vt:lpstr>
      <vt:lpstr>Dataset e Preprocessing </vt:lpstr>
      <vt:lpstr>Architettura del Modello </vt:lpstr>
      <vt:lpstr>Training Del Modello</vt:lpstr>
      <vt:lpstr>Metriche di Valutazione</vt:lpstr>
      <vt:lpstr>Metriche di Valutazione  </vt:lpstr>
      <vt:lpstr>Demo Interattiva</vt:lpstr>
      <vt:lpstr>Demo Interattiva</vt:lpstr>
      <vt:lpstr>Demo Interattiva</vt:lpstr>
      <vt:lpstr>Risultati </vt:lpstr>
      <vt:lpstr>Limiti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DENORA PASQUALE ALESSANDRO</dc:creator>
  <cp:lastModifiedBy>DENORA PASQUALE ALESSANDRO</cp:lastModifiedBy>
  <cp:revision>2</cp:revision>
  <dcterms:created xsi:type="dcterms:W3CDTF">2025-08-02T21:48:18Z</dcterms:created>
  <dcterms:modified xsi:type="dcterms:W3CDTF">2025-08-03T09:46:00Z</dcterms:modified>
</cp:coreProperties>
</file>